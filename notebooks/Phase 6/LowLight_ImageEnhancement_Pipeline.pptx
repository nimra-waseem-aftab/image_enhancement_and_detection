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PSNR Comparison Across Models (dB)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195-497A-808E-154F857803FA}"/>
              </c:ext>
            </c:extLst>
          </c:dPt>
          <c:dPt>
            <c:idx val="1"/>
            <c:invertIfNegative val="0"/>
            <c:bubble3D val="0"/>
            <c:spPr>
              <a:solidFill>
                <a:srgbClr val="00A8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95-497A-808E-154F857803FA}"/>
              </c:ext>
            </c:extLst>
          </c:dPt>
          <c:dPt>
            <c:idx val="2"/>
            <c:invertIfNegative val="0"/>
            <c:bubble3D val="0"/>
            <c:spPr>
              <a:solidFill>
                <a:srgbClr val="00A8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195-497A-808E-154F857803FA}"/>
              </c:ext>
            </c:extLst>
          </c:dPt>
          <c:dPt>
            <c:idx val="3"/>
            <c:invertIfNegative val="0"/>
            <c:bubble3D val="0"/>
            <c:spPr>
              <a:solidFill>
                <a:srgbClr val="4F46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95-497A-808E-154F857803FA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195-497A-808E-154F857803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MLP Baseline</c:v>
                </c:pt>
                <c:pt idx="1">
                  <c:v>Zero-DCE</c:v>
                </c:pt>
                <c:pt idx="2">
                  <c:v>Zero-DCE Pro</c:v>
                </c:pt>
                <c:pt idx="3">
                  <c:v>TL Full Fine-Tune</c:v>
                </c:pt>
                <c:pt idx="4">
                  <c:v>HPO Best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12.71</c:v>
                </c:pt>
                <c:pt idx="1">
                  <c:v>12.26</c:v>
                </c:pt>
                <c:pt idx="2">
                  <c:v>6.68</c:v>
                </c:pt>
                <c:pt idx="3">
                  <c:v>16.350000000000001</c:v>
                </c:pt>
                <c:pt idx="4">
                  <c:v>16.86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95-497A-808E-154F857803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58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presentation covers our end-to-end pipeline for low-light image enhancement and object detection, developed as part of the AI335L Deep Learning Lab course. The system chains Zero-DCE, Real-ESRGAN, and YOLOv8 to address the critical challenge of perception in dark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high-level story. We faced the problem of AI perception failure in dark conditions, built a three-stage pipeline as our solution, and achieved meaningful results including a best PSNR of 16.86 dB and 83.1% improvement through VAE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this isn't just an academic problem — dark-image failures have real safety and commercial consequences in autonomous driving, security, and consumer devices. Traditional solutions like CLAHE are insufficient and supervised approaches require expensive paired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objectives span the full scope of the project across five phases: core model implementation, pipeline assembly, three experimental research directions, and deployment. The success criterion for each is a measurable improvement in PSNR, SSIM, or detection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comparison table shows why Zero-DCE is our choice: it's the only method that works without paired data, making it practical for real-world deployment where you can't always collect matched bright/dark pairs. We augment its limitations with Real-ESRGAN and YOLOv8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innovation is combining three specialized models: Zero-DCE for the core unsupervised enhancement, Real-ESRGAN for artifact removal, and YOLOv8 for detection. The brightness gate prevents double-enhancement. Each stage addresses a specific failure mode of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DCENet has a U-Net style skip-connection architecture with only 91K parameters — extremely lightweight. The four loss functions replace the need for any reference image. The curve formula is applied iteratively 8 times, compounding the effect while staying differentiable for backpropagation.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six-step methodology spans dataset preparation through deployment. Key decisions: using the combined LOL-v2 dataset for more training signal, 200 epochs with cosine annealing, and KL annealing in the VAE to prevent posterior collapse.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 is entirely open-source and deployable on commodity hardware. The RTX 4050 laptop GPU is sufficient for research-scale training. For production, the pipeline would benefit from a dedicated inference server but can run on a single consumer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implementation details show the care taken to ensure reproducible, robust training. Multi-seed ablation (seeds 42, 123, 7) confirms results aren't cherry-picked. AMP halves memory and speeds up training by 20–30% on the RTX 4050.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results tell a clear story: Zero-DCE's PSNR (12.26 dB) is close to the MLP baseline but its SSIM (0.6962 vs 0.6317) is notably better — the structure-preserving losses do their job. The HPO search improves over manual full fine-tuning by 0.51 dB with minimal extra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transparent about challenges is important. The -inf issue is a real production concern and we've documented the workaround. The SSIM gap in TL and DCENet-Pro underperformance are areas for future work rather than fundamental flaws in our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has cross-industry relevance. The 90K parameter Zero-DCE model is particularly notable for edge deployment — it's small enough to run on a Raspberry Pi or smartphone SoC. The VAE augmentation approach also has direct transfer to medical imaging, where paired data is expensive to collect.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is organized by feasibility and impact. Near-term items are one-sprint fixes. Mid-term items require design decisions. The long-term video stream and public deployment items are full projects in themselves but represent the natural evolution of this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we have delivered a complete research pipeline that addresses a real problem, demonstrates measurable improvement at each stage, and has been deployed as a working GUI application. The work spans from dataset analysis through Bayesian optimization to interactive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Suggested discussion topics: (1) How does Zero-DCE compare to LLFlow or SNR-aware enhancement on LOL-v2? (2) What was the impact of enhancement on downstream YOLOv8 mAP? (3) Could the VAE be used to synthesize the ground-truth bright images instead of just augmenting the dark set?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A8CC">
              <a:alpha val="15000"/>
            </a:srgbClr>
          </a:solidFill>
          <a:ln w="12700">
            <a:solidFill>
              <a:srgbClr val="00A8C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AI335L — Deep Learning Lab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Image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&amp; Detection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 + Real-ESRGAN + YOLOv8 End-to-End Pipeline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5943600" cy="32004"/>
          </a:xfrm>
          <a:prstGeom prst="rect">
            <a:avLst/>
          </a:prstGeom>
          <a:solidFill>
            <a:srgbClr val="00A8CC">
              <a:alpha val="45000"/>
            </a:srgbClr>
          </a:solidFill>
          <a:ln w="12700">
            <a:solidFill>
              <a:srgbClr val="00A8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Nimra Waseem (S2024AI002)   ·   Umair Naveed (S2024AI007)   ·   Dayan Amjad (S2024AI007)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 ·  June 3,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7A9B"/>
                </a:solidFill>
              </a:rPr>
              <a:t>github.com/Nimra-waseemaftab/image_enhancement_and_detection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00584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960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6002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in low-light environments produce noisy, dark images that cause AI detection models to miss objects, misclassify textures, and generate false alarms.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18688" y="9601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7"/>
          <p:cNvSpPr/>
          <p:nvPr/>
        </p:nvSpPr>
        <p:spPr>
          <a:xfrm>
            <a:off x="3218688" y="960120"/>
            <a:ext cx="2743200" cy="5029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10058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21608" y="960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383280" y="16002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pipeline: Zero-DCE enhances images without reference data → Real-ESRGAN restores fine detail → YOLOv8 detects objects across 601 classes.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63056" y="9601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1"/>
          <p:cNvSpPr/>
          <p:nvPr/>
        </p:nvSpPr>
        <p:spPr>
          <a:xfrm>
            <a:off x="6163056" y="960120"/>
            <a:ext cx="27432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10058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65976" y="960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27648" y="160020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validated PSNR of 16.86 dB via Bayesian HPO. Full pipeline processes images in under 2 seconds. Interactive GUI deployed for real-world use.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74320" y="4572000"/>
            <a:ext cx="1600200" cy="4572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5"/>
          <p:cNvSpPr/>
          <p:nvPr/>
        </p:nvSpPr>
        <p:spPr>
          <a:xfrm>
            <a:off x="274320" y="4572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A99"/>
                </a:solidFill>
              </a:rPr>
              <a:t>12.26 dB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74320" y="479145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Zero-DCE PSNR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2011680" y="4572000"/>
            <a:ext cx="1600200" cy="4572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18"/>
          <p:cNvSpPr/>
          <p:nvPr/>
        </p:nvSpPr>
        <p:spPr>
          <a:xfrm>
            <a:off x="2011680" y="4572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A99"/>
                </a:solidFill>
              </a:rPr>
              <a:t>16.86 dB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2011680" y="479145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Best HPO PSNR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3749040" y="4572000"/>
            <a:ext cx="1600200" cy="4572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1"/>
          <p:cNvSpPr/>
          <p:nvPr/>
        </p:nvSpPr>
        <p:spPr>
          <a:xfrm>
            <a:off x="3749040" y="4572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A99"/>
                </a:solidFill>
              </a:rPr>
              <a:t>83.1%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749040" y="479145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VAE MSE Improvement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5486400" y="4572000"/>
            <a:ext cx="1600200" cy="4572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4"/>
          <p:cNvSpPr/>
          <p:nvPr/>
        </p:nvSpPr>
        <p:spPr>
          <a:xfrm>
            <a:off x="5486400" y="4572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A99"/>
                </a:solidFill>
              </a:rPr>
              <a:t>601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86400" y="479145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YOLOv8 Classes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223760" y="4572000"/>
            <a:ext cx="1600200" cy="457200"/>
          </a:xfrm>
          <a:prstGeom prst="rect">
            <a:avLst/>
          </a:prstGeom>
          <a:solidFill>
            <a:srgbClr val="E0F7F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27"/>
          <p:cNvSpPr/>
          <p:nvPr/>
        </p:nvSpPr>
        <p:spPr>
          <a:xfrm>
            <a:off x="7223760" y="4572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7A99"/>
                </a:solidFill>
              </a:rPr>
              <a:t>~0.1s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223760" y="479145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Enhancement Latency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in under-lit environments suppress detail, amplify noise, and distort color balance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trained on daylight data miss objects, misclassify textures, and generate false bounding boxes in dark images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(histogram equalization, CLAHE) amplify noise and introduce color shifts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deep learning methods require large paired datasets — expensive to collect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spans autonomous vehicles, surveillance, and mobile photography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46320" y="960120"/>
            <a:ext cx="402336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502920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983480" y="1572768"/>
            <a:ext cx="3749040" cy="914400"/>
          </a:xfrm>
          <a:prstGeom prst="rect">
            <a:avLst/>
          </a:prstGeom>
          <a:solidFill>
            <a:srgbClr val="334E68">
              <a:alpha val="7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73936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618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623560" y="1920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driving requires reliable object detection — failure means safety risk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83480" y="2670048"/>
            <a:ext cx="3749040" cy="914400"/>
          </a:xfrm>
          <a:prstGeom prst="rect">
            <a:avLst/>
          </a:prstGeom>
          <a:solidFill>
            <a:srgbClr val="334E68">
              <a:alpha val="7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87121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23560" y="2715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Surveillance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62356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incidents occur at night; degraded detection defeats the purpose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983480" y="3767328"/>
            <a:ext cx="3749040" cy="914400"/>
          </a:xfrm>
          <a:prstGeom prst="rect">
            <a:avLst/>
          </a:prstGeom>
          <a:solidFill>
            <a:srgbClr val="334E68">
              <a:alpha val="7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968496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23560" y="3813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Photography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623560" y="4114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cameras struggle in dim restaurants, concerts, indoor settings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8755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274320" y="987552"/>
            <a:ext cx="77724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274320" y="133502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0972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0607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Enhancement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88720" y="144475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Zero-DCE to enhance low-light images without paired ground-truth references, using four physics-informed self-supervised loss functions.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09160" y="987552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8"/>
          <p:cNvSpPr/>
          <p:nvPr/>
        </p:nvSpPr>
        <p:spPr>
          <a:xfrm>
            <a:off x="4709160" y="987552"/>
            <a:ext cx="77724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9"/>
          <p:cNvSpPr/>
          <p:nvPr/>
        </p:nvSpPr>
        <p:spPr>
          <a:xfrm>
            <a:off x="4709160" y="133502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09728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10607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623560" y="144475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Zero-DCE → Real-ESRGAN super-resolution → YOLOv8 detection into a coherent inference pipeline with automatic brightness gating.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74320" y="2331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3"/>
          <p:cNvSpPr/>
          <p:nvPr/>
        </p:nvSpPr>
        <p:spPr>
          <a:xfrm>
            <a:off x="274320" y="2331720"/>
            <a:ext cx="77724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4"/>
          <p:cNvSpPr/>
          <p:nvPr/>
        </p:nvSpPr>
        <p:spPr>
          <a:xfrm>
            <a:off x="274320" y="26791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24414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2404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Study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88720" y="2788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compare four MobileNetV2 transfer configurations (Feature Extraction, Full Fine-Tuning, Differential LR, Gradual Unfreezing) to quantify the best strategy.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09160" y="23317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18"/>
          <p:cNvSpPr/>
          <p:nvPr/>
        </p:nvSpPr>
        <p:spPr>
          <a:xfrm>
            <a:off x="4709160" y="2331720"/>
            <a:ext cx="77724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19"/>
          <p:cNvSpPr/>
          <p:nvPr/>
        </p:nvSpPr>
        <p:spPr>
          <a:xfrm>
            <a:off x="4709160" y="26791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244144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35040" y="2404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Augmentation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623560" y="2788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ConvVAE to generate synthetic low-light samples and augment the under-represented real-captured dataset split.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74320" y="36758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3"/>
          <p:cNvSpPr/>
          <p:nvPr/>
        </p:nvSpPr>
        <p:spPr>
          <a:xfrm>
            <a:off x="274320" y="3675888"/>
            <a:ext cx="77724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4"/>
          <p:cNvSpPr/>
          <p:nvPr/>
        </p:nvSpPr>
        <p:spPr>
          <a:xfrm>
            <a:off x="274320" y="40233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3785616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600200" y="3749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Hyperparameter Search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88720" y="413308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25-trial Optuna TPE study with MedianPruner to identify optimal hyperparameter configuration beyond manual tuning.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709160" y="367588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28"/>
          <p:cNvSpPr/>
          <p:nvPr/>
        </p:nvSpPr>
        <p:spPr>
          <a:xfrm>
            <a:off x="4709160" y="3675888"/>
            <a:ext cx="777240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29"/>
          <p:cNvSpPr/>
          <p:nvPr/>
        </p:nvSpPr>
        <p:spPr>
          <a:xfrm>
            <a:off x="4709160" y="40233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785616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035040" y="3749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Deployment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623560" y="413308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NIGHTVISION GUI application integrating the full pipeline for real-time image upload, enhancement, and detection visualization.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RELATED WORK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11887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274320" y="960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463040" y="960120"/>
            <a:ext cx="21031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1463040" y="960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960120"/>
            <a:ext cx="2286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3566160" y="960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960120"/>
            <a:ext cx="25603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585216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1371600"/>
            <a:ext cx="1188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1463040" y="1371600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3566160" y="1371600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5852160" y="137160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274320" y="1371600"/>
            <a:ext cx="54864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365760" y="1371600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554480" y="1371600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/ Histogram Eq.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0" y="1371600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parameters, fast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43600" y="137160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noise, color shifts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2039112"/>
            <a:ext cx="11887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0"/>
          <p:cNvSpPr/>
          <p:nvPr/>
        </p:nvSpPr>
        <p:spPr>
          <a:xfrm>
            <a:off x="1463040" y="2039112"/>
            <a:ext cx="21031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3566160" y="2039112"/>
            <a:ext cx="228600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2"/>
          <p:cNvSpPr/>
          <p:nvPr/>
        </p:nvSpPr>
        <p:spPr>
          <a:xfrm>
            <a:off x="5852160" y="2039112"/>
            <a:ext cx="25603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3"/>
          <p:cNvSpPr/>
          <p:nvPr/>
        </p:nvSpPr>
        <p:spPr>
          <a:xfrm>
            <a:off x="274320" y="2039112"/>
            <a:ext cx="54864" cy="6217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365760" y="2039112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554480" y="2039112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RetinexNet (Wei 2018)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57600" y="2039112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PSNR (23–28 dB)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0" y="20391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paired data; sensitive to domain gap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2706624"/>
            <a:ext cx="1188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29"/>
          <p:cNvSpPr/>
          <p:nvPr/>
        </p:nvSpPr>
        <p:spPr>
          <a:xfrm>
            <a:off x="1463040" y="2706624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0"/>
          <p:cNvSpPr/>
          <p:nvPr/>
        </p:nvSpPr>
        <p:spPr>
          <a:xfrm>
            <a:off x="3566160" y="2706624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5852160" y="2706624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2"/>
          <p:cNvSpPr/>
          <p:nvPr/>
        </p:nvSpPr>
        <p:spPr>
          <a:xfrm>
            <a:off x="274320" y="2706624"/>
            <a:ext cx="54864" cy="621792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3"/>
          <p:cNvSpPr/>
          <p:nvPr/>
        </p:nvSpPr>
        <p:spPr>
          <a:xfrm>
            <a:off x="365760" y="2706624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Zero-Reference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554480" y="2706624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 (Guo 2020) ★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657600" y="2706624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images; four physics losses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943600" y="2706624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PSNR ceiling (~12–16 dB)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" y="3374136"/>
            <a:ext cx="11887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8"/>
          <p:cNvSpPr/>
          <p:nvPr/>
        </p:nvSpPr>
        <p:spPr>
          <a:xfrm>
            <a:off x="1463040" y="3374136"/>
            <a:ext cx="21031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39"/>
          <p:cNvSpPr/>
          <p:nvPr/>
        </p:nvSpPr>
        <p:spPr>
          <a:xfrm>
            <a:off x="3566160" y="3374136"/>
            <a:ext cx="228600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40"/>
          <p:cNvSpPr/>
          <p:nvPr/>
        </p:nvSpPr>
        <p:spPr>
          <a:xfrm>
            <a:off x="5852160" y="3374136"/>
            <a:ext cx="256032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1"/>
          <p:cNvSpPr/>
          <p:nvPr/>
        </p:nvSpPr>
        <p:spPr>
          <a:xfrm>
            <a:off x="274320" y="3374136"/>
            <a:ext cx="54864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2"/>
          <p:cNvSpPr/>
          <p:nvPr/>
        </p:nvSpPr>
        <p:spPr>
          <a:xfrm>
            <a:off x="365760" y="337413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554480" y="3374136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Real-ESRGAN (Wang 2021)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657600" y="3374136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real-world noise &amp; JPEG artifacts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943600" y="3374136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0.8–1.7 s per image latency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274320" y="4041648"/>
            <a:ext cx="1188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Shape 47"/>
          <p:cNvSpPr/>
          <p:nvPr/>
        </p:nvSpPr>
        <p:spPr>
          <a:xfrm>
            <a:off x="1463040" y="4041648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Shape 48"/>
          <p:cNvSpPr/>
          <p:nvPr/>
        </p:nvSpPr>
        <p:spPr>
          <a:xfrm>
            <a:off x="3566160" y="4041648"/>
            <a:ext cx="2286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Shape 49"/>
          <p:cNvSpPr/>
          <p:nvPr/>
        </p:nvSpPr>
        <p:spPr>
          <a:xfrm>
            <a:off x="5852160" y="404164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Shape 50"/>
          <p:cNvSpPr/>
          <p:nvPr/>
        </p:nvSpPr>
        <p:spPr>
          <a:xfrm>
            <a:off x="274320" y="4041648"/>
            <a:ext cx="54864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Text 51"/>
          <p:cNvSpPr/>
          <p:nvPr/>
        </p:nvSpPr>
        <p:spPr>
          <a:xfrm>
            <a:off x="365760" y="4041648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1554480" y="4041648"/>
            <a:ext cx="1993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YOLOv8-OI (Ultralytics 2023)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3657600" y="4041648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 classes, real-time capable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5943600" y="4041648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enhanced input in low light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E0F7FA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6"/>
          <p:cNvSpPr/>
          <p:nvPr/>
        </p:nvSpPr>
        <p:spPr>
          <a:xfrm>
            <a:off x="457200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7A99"/>
                </a:solidFill>
              </a:rPr>
              <a:t>★  Our approach builds on Zero-DCE, integrating Real-ESRGAN and YOLOv8 to overcome limitations of each individual method.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AI pipeline transforming dark images into actionable intelligence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97480" cy="3291840"/>
          </a:xfrm>
          <a:prstGeom prst="rect">
            <a:avLst/>
          </a:prstGeom>
          <a:solidFill>
            <a:srgbClr val="334E68">
              <a:alpha val="6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97480" cy="50292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965960" cy="27432"/>
          </a:xfrm>
          <a:prstGeom prst="rect">
            <a:avLst/>
          </a:prstGeom>
          <a:solidFill>
            <a:srgbClr val="00A8CC">
              <a:alpha val="40000"/>
            </a:srgbClr>
          </a:solidFill>
          <a:ln w="12700">
            <a:solidFill>
              <a:srgbClr val="00A8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curve estimation. 90K params. ~0.1s GPU. No reference images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606040"/>
            <a:ext cx="109728" cy="502920"/>
          </a:xfrm>
          <a:prstGeom prst="rect">
            <a:avLst/>
          </a:prstGeom>
          <a:solidFill>
            <a:srgbClr val="00A8CC">
              <a:alpha val="60000"/>
            </a:srgbClr>
          </a:solidFill>
          <a:ln w="12700">
            <a:solidFill>
              <a:srgbClr val="00A8C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97480" cy="3291840"/>
          </a:xfrm>
          <a:prstGeom prst="rect">
            <a:avLst/>
          </a:prstGeom>
          <a:solidFill>
            <a:srgbClr val="334E68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246120" y="1143000"/>
            <a:ext cx="269748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24612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Stage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Real-ESRGAN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46120" y="221284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11880" y="2651760"/>
            <a:ext cx="1965960" cy="27432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383280" y="278892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super-resolution. Removes compression artifacts and noise. Tiled inference for large images.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606040"/>
            <a:ext cx="109728" cy="502920"/>
          </a:xfrm>
          <a:prstGeom prst="rect">
            <a:avLst/>
          </a:prstGeom>
          <a:solidFill>
            <a:srgbClr val="A78BFA">
              <a:alpha val="6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697480" cy="3291840"/>
          </a:xfrm>
          <a:prstGeom prst="rect">
            <a:avLst/>
          </a:prstGeom>
          <a:solidFill>
            <a:srgbClr val="334E68">
              <a:alpha val="6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126480" y="1143000"/>
            <a:ext cx="269748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12648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Stage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17373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YOLOv8-OI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26480" y="221284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2651760"/>
            <a:ext cx="1965960" cy="27432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263640" y="278892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601-class object detection on Open Images V7. Conf. threshold 0.05 for high recall.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334E68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Smart Gate: If mean brightness &gt; 0.35, Zero-DCE is automatically skipped to prevent over-saturation of already well-lit inputs.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DCENet Architecture  (90,968 params)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353312"/>
            <a:ext cx="137160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365760" y="13533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  3×256×256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033272" y="1828800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365760" y="1901952"/>
            <a:ext cx="1371600" cy="475488"/>
          </a:xfrm>
          <a:prstGeom prst="rect">
            <a:avLst/>
          </a:prstGeom>
          <a:solidFill>
            <a:srgbClr val="007A99"/>
          </a:solidFill>
          <a:ln w="12700">
            <a:solidFill>
              <a:srgbClr val="007A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365760" y="19019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Conv1  3→32 ch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33272" y="2377440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365760" y="2450592"/>
            <a:ext cx="1371600" cy="475488"/>
          </a:xfrm>
          <a:prstGeom prst="rect">
            <a:avLst/>
          </a:prstGeom>
          <a:solidFill>
            <a:srgbClr val="007A99"/>
          </a:solidFill>
          <a:ln w="12700">
            <a:solidFill>
              <a:srgbClr val="007A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365760" y="245059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Conv2  32→32 ch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33272" y="2926080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365760" y="2999232"/>
            <a:ext cx="1371600" cy="475488"/>
          </a:xfrm>
          <a:prstGeom prst="rect">
            <a:avLst/>
          </a:prstGeom>
          <a:solidFill>
            <a:srgbClr val="007A99"/>
          </a:solidFill>
          <a:ln w="12700">
            <a:solidFill>
              <a:srgbClr val="007A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365760" y="29992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Conv3  32→32 ch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33272" y="3474720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365760" y="3547872"/>
            <a:ext cx="1371600" cy="475488"/>
          </a:xfrm>
          <a:prstGeom prst="rect">
            <a:avLst/>
          </a:prstGeom>
          <a:solidFill>
            <a:srgbClr val="007A99"/>
          </a:solidFill>
          <a:ln w="12700">
            <a:solidFill>
              <a:srgbClr val="007A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365760" y="35478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Conv4  32→32 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033272" y="4023360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365760" y="4096512"/>
            <a:ext cx="1828800" cy="475488"/>
          </a:xfrm>
          <a:prstGeom prst="rect">
            <a:avLst/>
          </a:prstGeom>
          <a:solidFill>
            <a:srgbClr val="334E68"/>
          </a:solidFill>
          <a:ln w="12700">
            <a:solidFill>
              <a:srgbClr val="334E6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365760" y="40965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Skip-Connect Decoder ×3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261872" y="4572000"/>
            <a:ext cx="36576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365760" y="4645152"/>
            <a:ext cx="18288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365760" y="46451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  24 ch  →  8×r maps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828800" y="21488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CC"/>
                </a:solidFill>
              </a:rPr>
              <a:t>↗ Skip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828800" y="27432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CC"/>
                </a:solidFill>
              </a:rPr>
              <a:t>↗ Skip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828800" y="3337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CC"/>
                </a:solidFill>
              </a:rPr>
              <a:t>↗ Skip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0" y="914400"/>
            <a:ext cx="42976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7"/>
          <p:cNvSpPr/>
          <p:nvPr/>
        </p:nvSpPr>
        <p:spPr>
          <a:xfrm>
            <a:off x="4572000" y="914400"/>
            <a:ext cx="42976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4617720" y="914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Self-Supervised Loss Functions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663440" y="1417320"/>
            <a:ext cx="502920" cy="3840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4663440" y="14173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×200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230368" y="14173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 Smoothness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230368" y="161848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patchy curve maps — spatial gradient of r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663440" y="1975104"/>
            <a:ext cx="502920" cy="3840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4663440" y="197510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×1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230368" y="197510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Consistency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230368" y="217627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local contrast via Laplacian difference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663440" y="2532888"/>
            <a:ext cx="502920" cy="3840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8"/>
          <p:cNvSpPr/>
          <p:nvPr/>
        </p:nvSpPr>
        <p:spPr>
          <a:xfrm>
            <a:off x="4663440" y="25328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×5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230368" y="253288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Constancy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230368" y="273405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RGB channel drift — sqrt of channel pair diffs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663440" y="3090672"/>
            <a:ext cx="502920" cy="3840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2"/>
          <p:cNvSpPr/>
          <p:nvPr/>
        </p:nvSpPr>
        <p:spPr>
          <a:xfrm>
            <a:off x="4663440" y="3090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×10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230368" y="309067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Loss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230368" y="32918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brightness to target 0.6 (≈153/255)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572000" y="3886200"/>
            <a:ext cx="42976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6"/>
          <p:cNvSpPr/>
          <p:nvPr/>
        </p:nvSpPr>
        <p:spPr>
          <a:xfrm>
            <a:off x="4709160" y="39136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Formula  (×8 iterations):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4709160" y="41513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x_new  =  x  +  r · (x² – x)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384048" y="1280160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384048" y="12801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4128" y="105156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24128" y="138074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LOL-v2 (789 train pairs). 80/20 split → 765 train / 135 val / 100 test. Resize 256×256, normalize [0,1].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4818888" y="1280160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4818888" y="12801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58968" y="105156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Analysis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58968" y="138074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7-dimension EDA: brightness, RGB balance, resolution, outliers, domain gap analysis (synthetic vs real-captured).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2860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384048" y="2606040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384048" y="2606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4128" y="237744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 Training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24128" y="270662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epochs, Adam lr=1e-4, cosine LR decay, AMP on GPU. Four physics losses. Early stopping (patience=20).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22860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4818888" y="2606040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4818888" y="2606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458968" y="237744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58968" y="270662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× 4 configs: Feature Extraction, Full Fine-Tuning, Differential LR, Gradual Unfreezing — 20 epochs each.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6118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3"/>
          <p:cNvSpPr/>
          <p:nvPr/>
        </p:nvSpPr>
        <p:spPr>
          <a:xfrm>
            <a:off x="384048" y="3931920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384048" y="39319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24128" y="370332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ConvVAE Augmentation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024128" y="40325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7.7M param ConvVAE, latent dim 128. KL annealing β: 0→1 over 20 epochs. +50 synthetic samples for real-captured split.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09160" y="36118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8"/>
          <p:cNvSpPr/>
          <p:nvPr/>
        </p:nvSpPr>
        <p:spPr>
          <a:xfrm>
            <a:off x="4818888" y="3931920"/>
            <a:ext cx="530352" cy="530352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9"/>
          <p:cNvSpPr/>
          <p:nvPr/>
        </p:nvSpPr>
        <p:spPr>
          <a:xfrm>
            <a:off x="4818888" y="39319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58968" y="3703320"/>
            <a:ext cx="3310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HPO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458968" y="4032504"/>
            <a:ext cx="33101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TPE sampler, MedianPruner. 25 trials, 6 hyperparameters, SQLite persistence. Best: PSNR 16.86 dB.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Frameworks · Libraries ·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600200" cy="388620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600200" cy="5943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1691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" y="2103120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338328" y="21031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4050 Laptop GPU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" y="2761488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338328" y="27614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(AMP enabled)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" y="3419856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338328" y="341985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" y="4078224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38328" y="40782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984248" y="1051560"/>
            <a:ext cx="1600200" cy="388620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1984248" y="1051560"/>
            <a:ext cx="1600200" cy="5943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09728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84248" y="1691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093976" y="2103120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7"/>
          <p:cNvSpPr/>
          <p:nvPr/>
        </p:nvSpPr>
        <p:spPr>
          <a:xfrm>
            <a:off x="2093976" y="21031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2.x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093976" y="2761488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2093976" y="27614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YOLOv8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093976" y="3419856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1"/>
          <p:cNvSpPr/>
          <p:nvPr/>
        </p:nvSpPr>
        <p:spPr>
          <a:xfrm>
            <a:off x="2093976" y="341985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Real-ESRGAN x4plus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093976" y="4078224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3"/>
          <p:cNvSpPr/>
          <p:nvPr/>
        </p:nvSpPr>
        <p:spPr>
          <a:xfrm>
            <a:off x="2093976" y="40782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739896" y="1051560"/>
            <a:ext cx="1600200" cy="388620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5"/>
          <p:cNvSpPr/>
          <p:nvPr/>
        </p:nvSpPr>
        <p:spPr>
          <a:xfrm>
            <a:off x="3739896" y="1051560"/>
            <a:ext cx="1600200" cy="5943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097280"/>
            <a:ext cx="411480" cy="4114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739896" y="1691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849624" y="2103120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28"/>
          <p:cNvSpPr/>
          <p:nvPr/>
        </p:nvSpPr>
        <p:spPr>
          <a:xfrm>
            <a:off x="3849624" y="21031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4.8.0 (TPE)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3849624" y="2761488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0"/>
          <p:cNvSpPr/>
          <p:nvPr/>
        </p:nvSpPr>
        <p:spPr>
          <a:xfrm>
            <a:off x="3849624" y="27614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MedianPruner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849624" y="3419856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2"/>
          <p:cNvSpPr/>
          <p:nvPr/>
        </p:nvSpPr>
        <p:spPr>
          <a:xfrm>
            <a:off x="3849624" y="341985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849624" y="4078224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4"/>
          <p:cNvSpPr/>
          <p:nvPr/>
        </p:nvSpPr>
        <p:spPr>
          <a:xfrm>
            <a:off x="3849624" y="40782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495544" y="1051560"/>
            <a:ext cx="1600200" cy="388620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6"/>
          <p:cNvSpPr/>
          <p:nvPr/>
        </p:nvSpPr>
        <p:spPr>
          <a:xfrm>
            <a:off x="5495544" y="1051560"/>
            <a:ext cx="1600200" cy="5943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097280"/>
            <a:ext cx="411480" cy="41148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495544" y="1691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5605272" y="2103120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39"/>
          <p:cNvSpPr/>
          <p:nvPr/>
        </p:nvSpPr>
        <p:spPr>
          <a:xfrm>
            <a:off x="5605272" y="21031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 (PSNR/SSIM)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5605272" y="2761488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1"/>
          <p:cNvSpPr/>
          <p:nvPr/>
        </p:nvSpPr>
        <p:spPr>
          <a:xfrm>
            <a:off x="5605272" y="27614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5605272" y="3419856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3"/>
          <p:cNvSpPr/>
          <p:nvPr/>
        </p:nvSpPr>
        <p:spPr>
          <a:xfrm>
            <a:off x="5605272" y="341985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5605272" y="4078224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5"/>
          <p:cNvSpPr/>
          <p:nvPr/>
        </p:nvSpPr>
        <p:spPr>
          <a:xfrm>
            <a:off x="5605272" y="40782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ablation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7251192" y="1051560"/>
            <a:ext cx="1600200" cy="388620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Shape 47"/>
          <p:cNvSpPr/>
          <p:nvPr/>
        </p:nvSpPr>
        <p:spPr>
          <a:xfrm>
            <a:off x="7251192" y="1051560"/>
            <a:ext cx="1600200" cy="59436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1097280"/>
            <a:ext cx="411480" cy="41148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7251192" y="169164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7360920" y="2103120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Text 50"/>
          <p:cNvSpPr/>
          <p:nvPr/>
        </p:nvSpPr>
        <p:spPr>
          <a:xfrm>
            <a:off x="7360920" y="21031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(NIGHTVISION)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7360920" y="2761488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2"/>
          <p:cNvSpPr/>
          <p:nvPr/>
        </p:nvSpPr>
        <p:spPr>
          <a:xfrm>
            <a:off x="7360920" y="27614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/ Streamlit ready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7360920" y="3419856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1" name="Text 54"/>
          <p:cNvSpPr/>
          <p:nvPr/>
        </p:nvSpPr>
        <p:spPr>
          <a:xfrm>
            <a:off x="7360920" y="341985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ready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7360920" y="4078224"/>
            <a:ext cx="1371600" cy="530352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3" name="Text 56"/>
          <p:cNvSpPr/>
          <p:nvPr/>
        </p:nvSpPr>
        <p:spPr>
          <a:xfrm>
            <a:off x="7360920" y="40782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892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64008" cy="8686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457200" y="10149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DCENet Forward Pass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130759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CNN, 24-channel output → 8×RGB curve maps. Tanh activation on final layer. U-Net skip connections from enc1–enc3.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1965960"/>
            <a:ext cx="4892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274320" y="1965960"/>
            <a:ext cx="64008" cy="8686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457200" y="2020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Curve Enhancement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31343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x_new = x + r·(x²–x) applied 8×. Each of 8 outputs from DCENet applies one iteration. Fully differentiable.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971800"/>
            <a:ext cx="4892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274320" y="2971800"/>
            <a:ext cx="64008" cy="8686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457200" y="3026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ConvVAE with KL Annealing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331927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ramps 0→1 over first 20 epochs, preventing posterior collapse. Latent dim 128. Reconstruction + KL ELBO objective.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3977640"/>
            <a:ext cx="4892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274320" y="3977640"/>
            <a:ext cx="64008" cy="8686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457200" y="40325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HPO Study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432511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trials, TPE sampler, MedianPruner. 6 hyperparams searched. SQLite persistence for resumability. Best: lr_head=3.82e-4.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94960" y="960120"/>
            <a:ext cx="347472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5532120" y="10515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40680" y="1508760"/>
            <a:ext cx="33375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553212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Image Size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0664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256 × 256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40680" y="1847088"/>
            <a:ext cx="3337560" cy="320040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5532120" y="1847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Batch Size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06640" y="18470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40680" y="2185416"/>
            <a:ext cx="33375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5532120" y="21854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Epochs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406640" y="21854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200 (main)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440680" y="2523744"/>
            <a:ext cx="3337560" cy="320040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5532120" y="2523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Optimizer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06640" y="25237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Adam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40680" y="2862072"/>
            <a:ext cx="33375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3"/>
          <p:cNvSpPr/>
          <p:nvPr/>
        </p:nvSpPr>
        <p:spPr>
          <a:xfrm>
            <a:off x="5532120" y="2862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Learning Rate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406640" y="28620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1e-4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440680" y="3200400"/>
            <a:ext cx="3337560" cy="320040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6"/>
          <p:cNvSpPr/>
          <p:nvPr/>
        </p:nvSpPr>
        <p:spPr>
          <a:xfrm>
            <a:off x="55321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Scheduler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406640" y="3200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CosineAnnealing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40680" y="3538728"/>
            <a:ext cx="33375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39"/>
          <p:cNvSpPr/>
          <p:nvPr/>
        </p:nvSpPr>
        <p:spPr>
          <a:xfrm>
            <a:off x="5532120" y="35387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Grad Clip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06640" y="35387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1.0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440680" y="3877056"/>
            <a:ext cx="3337560" cy="320040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2"/>
          <p:cNvSpPr/>
          <p:nvPr/>
        </p:nvSpPr>
        <p:spPr>
          <a:xfrm>
            <a:off x="5532120" y="3877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Early Stop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406640" y="387705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Patience = 20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440680" y="4215384"/>
            <a:ext cx="33375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5"/>
          <p:cNvSpPr/>
          <p:nvPr/>
        </p:nvSpPr>
        <p:spPr>
          <a:xfrm>
            <a:off x="5532120" y="42153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Seed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406640" y="421538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42 (multi: 42,123,7)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440680" y="4553712"/>
            <a:ext cx="3337560" cy="320040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8"/>
          <p:cNvSpPr/>
          <p:nvPr/>
        </p:nvSpPr>
        <p:spPr>
          <a:xfrm>
            <a:off x="5532120" y="4553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ECE"/>
                </a:solidFill>
              </a:rPr>
              <a:t>AMP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7406640" y="45537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Enabled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274320" y="91440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960120"/>
            <a:ext cx="30175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3"/>
          <p:cNvSpPr/>
          <p:nvPr/>
        </p:nvSpPr>
        <p:spPr>
          <a:xfrm>
            <a:off x="5852160" y="960120"/>
            <a:ext cx="54864" cy="88696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4"/>
          <p:cNvSpPr/>
          <p:nvPr/>
        </p:nvSpPr>
        <p:spPr>
          <a:xfrm>
            <a:off x="598932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12.26 dB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989320" y="14356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 PSNR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89320" y="16184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SSIM: 0.6962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852160" y="1984248"/>
            <a:ext cx="30175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8"/>
          <p:cNvSpPr/>
          <p:nvPr/>
        </p:nvSpPr>
        <p:spPr>
          <a:xfrm>
            <a:off x="5852160" y="1984248"/>
            <a:ext cx="54864" cy="8869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9"/>
          <p:cNvSpPr/>
          <p:nvPr/>
        </p:nvSpPr>
        <p:spPr>
          <a:xfrm>
            <a:off x="598932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12.71 dB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989320" y="24597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Baseline PSNR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989320" y="26426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SSIM: 0.6317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852160" y="3008376"/>
            <a:ext cx="30175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5852160" y="3008376"/>
            <a:ext cx="54864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4"/>
          <p:cNvSpPr/>
          <p:nvPr/>
        </p:nvSpPr>
        <p:spPr>
          <a:xfrm>
            <a:off x="5989320" y="309981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16.86 dB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989320" y="34838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HPO PSNR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989320" y="3666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Full FT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852160" y="4032504"/>
            <a:ext cx="30175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8"/>
          <p:cNvSpPr/>
          <p:nvPr/>
        </p:nvSpPr>
        <p:spPr>
          <a:xfrm>
            <a:off x="5852160" y="4032504"/>
            <a:ext cx="54864" cy="8869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5989320" y="412394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+83.1%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989320" y="45079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Augmentation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989320" y="4690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MSE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74320" y="3977640"/>
            <a:ext cx="5303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3"/>
          <p:cNvSpPr/>
          <p:nvPr/>
        </p:nvSpPr>
        <p:spPr>
          <a:xfrm>
            <a:off x="320040" y="3977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Config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828800" y="39776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PSNR (dB)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383280" y="397764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SSIM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572000" y="39776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Time (s)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74320" y="4233672"/>
            <a:ext cx="5303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8"/>
          <p:cNvSpPr/>
          <p:nvPr/>
        </p:nvSpPr>
        <p:spPr>
          <a:xfrm>
            <a:off x="320040" y="423367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99"/>
                </a:solidFill>
              </a:rPr>
              <a:t>Full Fine-Tuning ★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828800" y="4233672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16.35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3383280" y="4233672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0.4255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572000" y="4233672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259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74320" y="4489704"/>
            <a:ext cx="530352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3"/>
          <p:cNvSpPr/>
          <p:nvPr/>
        </p:nvSpPr>
        <p:spPr>
          <a:xfrm>
            <a:off x="320040" y="448970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Differential LR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828800" y="4489704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15.02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383280" y="4489704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0.4196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572000" y="4489704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240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74320" y="4745736"/>
            <a:ext cx="5303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38"/>
          <p:cNvSpPr/>
          <p:nvPr/>
        </p:nvSpPr>
        <p:spPr>
          <a:xfrm>
            <a:off x="320040" y="474573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Gradual Unfreezing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828800" y="474573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14.71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3383280" y="4745736"/>
            <a:ext cx="1143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0.4196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4572000" y="4745736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E68"/>
                </a:solidFill>
              </a:rPr>
              <a:t>~250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2062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365760" y="99669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Numerical Instability in Curve Output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1380744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Enhanced output contains -inf values under extreme parameters. Applied numpy.clip(0,1) post-inference. Long-term: clamp curve r before iterative application.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4800600" y="99669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DCENet-Pro Underperformance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18888" y="1380744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Added BatchNorm and Pooling hurt PSNR (6.68 dB vs 12.26 dB) with 40-epoch budget. Extra capacity needs 200 epochs + careful LR schedule. Deferred to future work.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31343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274320" y="2313432"/>
            <a:ext cx="42062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65760" y="23500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SSIM Gap in Transfer Learning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84048" y="273405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TL configs achieved SSIM ~0.42 vs Zero-DCE's 0.70. Root cause: L1 pixel loss doesn't preserve structure. Fix: add perceptual VGG loss or SSIM regularization term.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231343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4709160" y="2313432"/>
            <a:ext cx="42062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4800600" y="23500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Real-ESRGAN Latency (0.8–1.7s)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18888" y="273405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Tiled inference (256px tiles) manages VRAM. For real-time deployment, replace with a lighter model (RRDB student network). Current pipeline suitable for near-real-time applications.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366674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274320" y="3666744"/>
            <a:ext cx="42062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365760" y="37033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Small Real-Captured Dataset (~100 pairs)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84048" y="4087368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ConvVAE augmentation added 50 synthetic samples, yielding 83.1% MSE improvement. More fundamental fix would be collecting additional real-world paired data.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09160" y="3666744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3"/>
          <p:cNvSpPr/>
          <p:nvPr/>
        </p:nvSpPr>
        <p:spPr>
          <a:xfrm>
            <a:off x="4709160" y="3666744"/>
            <a:ext cx="42062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4800600" y="37033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Transfer Learning Config A Logging Loss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18888" y="4087368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Feature Extraction config logs were unavailable at reporting time due to a logging bug. Re-run scheduled with fixed logging. Config B–D results are fully reproducible.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IMPACT &amp; APPLICATIONS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AI research and real-world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4173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204341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188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4048" y="17830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Night-mode perception systems for ADAS. Improvement in recall for pedestrian and obstacle detection in under-lit conditions.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182112" y="1097280"/>
            <a:ext cx="2743200" cy="14173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032" y="12298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18872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Surveillance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291840" y="17830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systems with built-in enhancement. Reduce false negatives in intrusion detection at night without IR cameras.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062472" y="1046988"/>
            <a:ext cx="2743200" cy="14173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384" y="114833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0" y="119100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Photography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172200" y="1658493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night mode enhancement. Zero-DCE's 90K params suitable for edge deployment — 0.1s on a modern smartphone.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74320" y="2724912"/>
            <a:ext cx="2743200" cy="14173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" y="2848356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2688" y="28163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384048" y="34107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endoscopy and microscopy. ConvVAE augmentation approach directly applicable where paired data is scarce.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154680" y="2746248"/>
            <a:ext cx="2743200" cy="14173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684" y="29260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675888" y="28072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&amp; UAV Systems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456432" y="341071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patrol and inspection drones. Full pipeline under 300 MB model footprint fits embedded GPU deployments.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195060" y="2741676"/>
            <a:ext cx="2743200" cy="14173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9548" y="2807208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42760" y="28254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268212" y="33497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at dawn/dusk capture windows. Enhancement as preprocessing stage for existing detection pipelines.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1463040" cy="120700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274320" y="13533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920240" y="10698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2011680" y="1088136"/>
            <a:ext cx="201168" cy="20116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2029968" y="1307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VGG perceptual loss to Zero-DCE to push SSIM above 0.75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51960" y="10698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4343400" y="1088136"/>
            <a:ext cx="201168" cy="20116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4361688" y="1307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DCENet-Pro for full 200-epoch budget with cosine LR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583680" y="10698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6675120" y="1088136"/>
            <a:ext cx="201168" cy="201168"/>
          </a:xfrm>
          <a:prstGeom prst="ellipse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6693408" y="1307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curve output clamping to eliminate -inf instability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331720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274320" y="2331720"/>
            <a:ext cx="146304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274320" y="27249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920240" y="24414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2011680" y="24597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2029968" y="26791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Real-ESRGAN with lightweight RRDB student network (&lt;500ms)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251960" y="24414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4343400" y="24597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4361688" y="26791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mAP evaluation: dark raw vs enhanced inputs on full test set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83680" y="24414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4"/>
          <p:cNvSpPr/>
          <p:nvPr/>
        </p:nvSpPr>
        <p:spPr>
          <a:xfrm>
            <a:off x="6675120" y="24597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6693408" y="26791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SSIM-based regularization in transfer learning configs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3703320"/>
            <a:ext cx="8595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7"/>
          <p:cNvSpPr/>
          <p:nvPr/>
        </p:nvSpPr>
        <p:spPr>
          <a:xfrm>
            <a:off x="274320" y="3703320"/>
            <a:ext cx="1463040" cy="1207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274320" y="40965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1920240" y="38130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0"/>
          <p:cNvSpPr/>
          <p:nvPr/>
        </p:nvSpPr>
        <p:spPr>
          <a:xfrm>
            <a:off x="2011680" y="3831336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1"/>
          <p:cNvSpPr/>
          <p:nvPr/>
        </p:nvSpPr>
        <p:spPr>
          <a:xfrm>
            <a:off x="2029968" y="40507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to explicitly bridge synthetic/real LOL-v2 gap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251960" y="38130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3"/>
          <p:cNvSpPr/>
          <p:nvPr/>
        </p:nvSpPr>
        <p:spPr>
          <a:xfrm>
            <a:off x="4343400" y="3831336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4361688" y="40507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 support with temporal consistency loss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583680" y="3813048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6"/>
          <p:cNvSpPr/>
          <p:nvPr/>
        </p:nvSpPr>
        <p:spPr>
          <a:xfrm>
            <a:off x="6675120" y="3831336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6693408" y="40507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Hugging Face Spaces for public access (&lt;300 MB)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0A8CC">
              <a:alpha val="12000"/>
            </a:srgbClr>
          </a:solidFill>
          <a:ln w="12700">
            <a:solidFill>
              <a:srgbClr val="00A8C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research-to-deployment pipeline for low-light AI perception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14800" cy="11887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4416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31673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 Works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8992" y="166420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enhancement achieves PSNR 12.26 dB and SSIM 0.696 without any reference images.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207008"/>
            <a:ext cx="4114800" cy="11887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4416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31673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Adds Value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22392" y="166420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25-trial Bayesian search improves PSNR to 16.86 dB — outperforming all manual configurations.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2596896"/>
            <a:ext cx="4114800" cy="11887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3405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27066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Augments Effectively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78992" y="30540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 reconstruction MSE improvement on the scarce real-captured subset from 50 VAE samples.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709160" y="2596896"/>
            <a:ext cx="4114800" cy="1188720"/>
          </a:xfrm>
          <a:prstGeom prst="rect">
            <a:avLst/>
          </a:prstGeom>
          <a:solidFill>
            <a:srgbClr val="334E68">
              <a:alpha val="65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734056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22392" y="27066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Deployed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22392" y="30540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NIGHTVISION GUI integrates Zero-DCE + Real-ESRGAN + YOLOv8 in an interactive desktop application.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14400" y="4343400"/>
            <a:ext cx="7315200" cy="621792"/>
          </a:xfrm>
          <a:prstGeom prst="rect">
            <a:avLst/>
          </a:prstGeom>
          <a:solidFill>
            <a:srgbClr val="00A8CC">
              <a:alpha val="80000"/>
            </a:srgbClr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7"/>
          <p:cNvSpPr/>
          <p:nvPr/>
        </p:nvSpPr>
        <p:spPr>
          <a:xfrm>
            <a:off x="914400" y="4343400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darkness to detection — end-to-end, unsupervised, and deployable."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A8CC">
              <a:alpha val="18000"/>
            </a:srgbClr>
          </a:solidFill>
          <a:ln w="12700">
            <a:solidFill>
              <a:srgbClr val="00A8C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731520" y="274320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5029200" cy="36576"/>
          </a:xfrm>
          <a:prstGeom prst="rect">
            <a:avLst/>
          </a:prstGeom>
          <a:solidFill>
            <a:srgbClr val="00A8CC">
              <a:alpha val="45000"/>
            </a:srgbClr>
          </a:solidFill>
          <a:ln w="12700">
            <a:solidFill>
              <a:srgbClr val="00A8C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r>
              <a:rPr lang="en-US" sz="10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github.com/Nimra-waseemaftab/image_enhancement_and_detection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 </a:t>
            </a:r>
            <a:r>
              <a:rPr lang="en-US" sz="10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bc5b0531e7b720af90b97b220cabd291960bb465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741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 </a:t>
            </a:r>
            <a:r>
              <a:rPr lang="en-US" sz="10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Phase6submission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7581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050" dirty="0">
                <a:solidFill>
                  <a:srgbClr val="A0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LOL-v2 — github.com/flyywh/CVPR2020-Semi-Low-Light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Nimra Waseem  ·  Umair Naveed  ·  Dayan Amjad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AI335L Deep Learning Lab  ·  Phase 6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2562</Words>
  <Application>Microsoft Office PowerPoint</Application>
  <PresentationFormat>On-screen Show (16:9)</PresentationFormat>
  <Paragraphs>326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Low-Light Image Enhancement and Object Detection</dc:title>
  <dc:subject>Zero-DCE + YOLOv8 Pipeline</dc:subject>
  <dc:creator>AI335L Deep Learning Lab</dc:creator>
  <cp:lastModifiedBy>Muhammad Umair</cp:lastModifiedBy>
  <cp:revision>3</cp:revision>
  <dcterms:created xsi:type="dcterms:W3CDTF">2026-06-03T04:34:53Z</dcterms:created>
  <dcterms:modified xsi:type="dcterms:W3CDTF">2026-06-03T04:46:56Z</dcterms:modified>
</cp:coreProperties>
</file>